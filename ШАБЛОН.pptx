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1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3006" y="102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2935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6718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72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006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129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493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2349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6823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6396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64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8594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5/13/2025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289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9095A18-0B6A-D730-1EC0-9444710D476A}"/>
              </a:ext>
            </a:extLst>
          </p:cNvPr>
          <p:cNvSpPr/>
          <p:nvPr/>
        </p:nvSpPr>
        <p:spPr>
          <a:xfrm>
            <a:off x="1439385" y="0"/>
            <a:ext cx="397923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r"/>
            <a:r>
              <a:rPr lang="ru-RU" sz="3200" b="1" dirty="0">
                <a:ln w="10160">
                  <a:solidFill>
                    <a:schemeClr val="tx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МАРШРУТНАЯ КАРТА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C2ABF7DB-5811-2B8B-802D-63F9282B34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03140"/>
              </p:ext>
            </p:extLst>
          </p:nvPr>
        </p:nvGraphicFramePr>
        <p:xfrm>
          <a:off x="1" y="578128"/>
          <a:ext cx="6854947" cy="830869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767567">
                  <a:extLst>
                    <a:ext uri="{9D8B030D-6E8A-4147-A177-3AD203B41FA5}">
                      <a16:colId xmlns:a16="http://schemas.microsoft.com/office/drawing/2014/main" val="1928705123"/>
                    </a:ext>
                  </a:extLst>
                </a:gridCol>
                <a:gridCol w="2088220">
                  <a:extLst>
                    <a:ext uri="{9D8B030D-6E8A-4147-A177-3AD203B41FA5}">
                      <a16:colId xmlns:a16="http://schemas.microsoft.com/office/drawing/2014/main" val="4120498213"/>
                    </a:ext>
                  </a:extLst>
                </a:gridCol>
                <a:gridCol w="1155947">
                  <a:extLst>
                    <a:ext uri="{9D8B030D-6E8A-4147-A177-3AD203B41FA5}">
                      <a16:colId xmlns:a16="http://schemas.microsoft.com/office/drawing/2014/main" val="3251564017"/>
                    </a:ext>
                  </a:extLst>
                </a:gridCol>
                <a:gridCol w="938366">
                  <a:extLst>
                    <a:ext uri="{9D8B030D-6E8A-4147-A177-3AD203B41FA5}">
                      <a16:colId xmlns:a16="http://schemas.microsoft.com/office/drawing/2014/main" val="1570759852"/>
                    </a:ext>
                  </a:extLst>
                </a:gridCol>
                <a:gridCol w="904847">
                  <a:extLst>
                    <a:ext uri="{9D8B030D-6E8A-4147-A177-3AD203B41FA5}">
                      <a16:colId xmlns:a16="http://schemas.microsoft.com/office/drawing/2014/main" val="2949299295"/>
                    </a:ext>
                  </a:extLst>
                </a:gridCol>
              </a:tblGrid>
              <a:tr h="549897"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Номер Отливки (модели)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Наименование  отливки (модели)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Тип литниковой системы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Номер кластера 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Номер плавки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9382704"/>
                  </a:ext>
                </a:extLst>
              </a:tr>
              <a:tr h="280972"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7159734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D14B87B6-C5B2-8B1F-7E35-9899250BE8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146109"/>
              </p:ext>
            </p:extLst>
          </p:nvPr>
        </p:nvGraphicFramePr>
        <p:xfrm>
          <a:off x="0" y="1453896"/>
          <a:ext cx="6858000" cy="200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6064">
                  <a:extLst>
                    <a:ext uri="{9D8B030D-6E8A-4147-A177-3AD203B41FA5}">
                      <a16:colId xmlns:a16="http://schemas.microsoft.com/office/drawing/2014/main" val="3314593692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3072079308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3771517583"/>
                    </a:ext>
                  </a:extLst>
                </a:gridCol>
                <a:gridCol w="1487424">
                  <a:extLst>
                    <a:ext uri="{9D8B030D-6E8A-4147-A177-3AD203B41FA5}">
                      <a16:colId xmlns:a16="http://schemas.microsoft.com/office/drawing/2014/main" val="350018252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614920181"/>
                    </a:ext>
                  </a:extLst>
                </a:gridCol>
                <a:gridCol w="1030224">
                  <a:extLst>
                    <a:ext uri="{9D8B030D-6E8A-4147-A177-3AD203B41FA5}">
                      <a16:colId xmlns:a16="http://schemas.microsoft.com/office/drawing/2014/main" val="32314010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Наименование операции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RU" sz="12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Дата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Исполнитель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Количество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Примечание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30002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Склейка элементов п/м.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00276"/>
                  </a:ext>
                </a:extLst>
              </a:tr>
              <a:tr h="255016">
                <a:tc rowSpan="2"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Контроль сборки кластера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146910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ru-RU" dirty="0">
                        <a:latin typeface="Aptos Display" panose="020B00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Время: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 dirty="0">
                        <a:latin typeface="Aptos Display" panose="020B0004020202020204" pitchFamily="34" charset="0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 dirty="0">
                        <a:latin typeface="Aptos Display" panose="020B0004020202020204" pitchFamily="34" charset="0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 dirty="0">
                        <a:latin typeface="Aptos Display" panose="020B00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649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Заливка форм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2276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Обрезка отливок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9300638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075A20C8-A4A4-7BB0-DAB9-05B3A8251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390840"/>
              </p:ext>
            </p:extLst>
          </p:nvPr>
        </p:nvGraphicFramePr>
        <p:xfrm>
          <a:off x="0" y="3455924"/>
          <a:ext cx="6858000" cy="396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6064">
                  <a:extLst>
                    <a:ext uri="{9D8B030D-6E8A-4147-A177-3AD203B41FA5}">
                      <a16:colId xmlns:a16="http://schemas.microsoft.com/office/drawing/2014/main" val="1899635743"/>
                    </a:ext>
                  </a:extLst>
                </a:gridCol>
                <a:gridCol w="1804416">
                  <a:extLst>
                    <a:ext uri="{9D8B030D-6E8A-4147-A177-3AD203B41FA5}">
                      <a16:colId xmlns:a16="http://schemas.microsoft.com/office/drawing/2014/main" val="2051511030"/>
                    </a:ext>
                  </a:extLst>
                </a:gridCol>
                <a:gridCol w="1072896">
                  <a:extLst>
                    <a:ext uri="{9D8B030D-6E8A-4147-A177-3AD203B41FA5}">
                      <a16:colId xmlns:a16="http://schemas.microsoft.com/office/drawing/2014/main" val="70827810"/>
                    </a:ext>
                  </a:extLst>
                </a:gridCol>
                <a:gridCol w="915924">
                  <a:extLst>
                    <a:ext uri="{9D8B030D-6E8A-4147-A177-3AD203B41FA5}">
                      <a16:colId xmlns:a16="http://schemas.microsoft.com/office/drawing/2014/main" val="3739586619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1811758262"/>
                    </a:ext>
                  </a:extLst>
                </a:gridCol>
              </a:tblGrid>
              <a:tr h="396748"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Термообработка отливок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Печь №1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Печь №2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8817344"/>
                  </a:ext>
                </a:extLst>
              </a:tr>
            </a:tbl>
          </a:graphicData>
        </a:graphic>
      </p:graphicFrame>
      <p:graphicFrame>
        <p:nvGraphicFramePr>
          <p:cNvPr id="12" name="Таблица 11">
            <a:extLst>
              <a:ext uri="{FF2B5EF4-FFF2-40B4-BE49-F238E27FC236}">
                <a16:creationId xmlns:a16="http://schemas.microsoft.com/office/drawing/2014/main" id="{7A036E75-95AB-6BA9-669D-2B65978EEF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183287"/>
              </p:ext>
            </p:extLst>
          </p:nvPr>
        </p:nvGraphicFramePr>
        <p:xfrm>
          <a:off x="3048" y="3852955"/>
          <a:ext cx="68518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952">
                  <a:extLst>
                    <a:ext uri="{9D8B030D-6E8A-4147-A177-3AD203B41FA5}">
                      <a16:colId xmlns:a16="http://schemas.microsoft.com/office/drawing/2014/main" val="1899635743"/>
                    </a:ext>
                  </a:extLst>
                </a:gridCol>
                <a:gridCol w="1808111">
                  <a:extLst>
                    <a:ext uri="{9D8B030D-6E8A-4147-A177-3AD203B41FA5}">
                      <a16:colId xmlns:a16="http://schemas.microsoft.com/office/drawing/2014/main" val="2051511030"/>
                    </a:ext>
                  </a:extLst>
                </a:gridCol>
                <a:gridCol w="1074789">
                  <a:extLst>
                    <a:ext uri="{9D8B030D-6E8A-4147-A177-3AD203B41FA5}">
                      <a16:colId xmlns:a16="http://schemas.microsoft.com/office/drawing/2014/main" val="7082781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739586619"/>
                    </a:ext>
                  </a:extLst>
                </a:gridCol>
                <a:gridCol w="1025646">
                  <a:extLst>
                    <a:ext uri="{9D8B030D-6E8A-4147-A177-3AD203B41FA5}">
                      <a16:colId xmlns:a16="http://schemas.microsoft.com/office/drawing/2014/main" val="18117582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10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Дробеметная</a:t>
                      </a:r>
                      <a:r>
                        <a:rPr lang="ru-RU" sz="11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 обработка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№1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№2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8817344"/>
                  </a:ext>
                </a:extLst>
              </a:tr>
            </a:tbl>
          </a:graphicData>
        </a:graphic>
      </p:graphicFrame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D14C3A1D-056F-33A3-B52E-6D33E722F3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027041"/>
              </p:ext>
            </p:extLst>
          </p:nvPr>
        </p:nvGraphicFramePr>
        <p:xfrm>
          <a:off x="0" y="4636789"/>
          <a:ext cx="685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988324038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255361559"/>
                    </a:ext>
                  </a:extLst>
                </a:gridCol>
                <a:gridCol w="1739900">
                  <a:extLst>
                    <a:ext uri="{9D8B030D-6E8A-4147-A177-3AD203B41FA5}">
                      <a16:colId xmlns:a16="http://schemas.microsoft.com/office/drawing/2014/main" val="3236366694"/>
                    </a:ext>
                  </a:extLst>
                </a:gridCol>
                <a:gridCol w="1689100">
                  <a:extLst>
                    <a:ext uri="{9D8B030D-6E8A-4147-A177-3AD203B41FA5}">
                      <a16:colId xmlns:a16="http://schemas.microsoft.com/office/drawing/2014/main" val="16659549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1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1. Зачистка питателей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2. Зачистка питателей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806019"/>
                  </a:ext>
                </a:extLst>
              </a:tr>
            </a:tbl>
          </a:graphicData>
        </a:graphic>
      </p:graphicFrame>
      <p:graphicFrame>
        <p:nvGraphicFramePr>
          <p:cNvPr id="17" name="Таблица 16">
            <a:extLst>
              <a:ext uri="{FF2B5EF4-FFF2-40B4-BE49-F238E27FC236}">
                <a16:creationId xmlns:a16="http://schemas.microsoft.com/office/drawing/2014/main" id="{31B0EDD1-BA95-EF31-BE05-4C201A6D21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9971293"/>
              </p:ext>
            </p:extLst>
          </p:nvPr>
        </p:nvGraphicFramePr>
        <p:xfrm>
          <a:off x="0" y="4223795"/>
          <a:ext cx="6854952" cy="412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4984">
                  <a:extLst>
                    <a:ext uri="{9D8B030D-6E8A-4147-A177-3AD203B41FA5}">
                      <a16:colId xmlns:a16="http://schemas.microsoft.com/office/drawing/2014/main" val="853828310"/>
                    </a:ext>
                  </a:extLst>
                </a:gridCol>
                <a:gridCol w="2284984">
                  <a:extLst>
                    <a:ext uri="{9D8B030D-6E8A-4147-A177-3AD203B41FA5}">
                      <a16:colId xmlns:a16="http://schemas.microsoft.com/office/drawing/2014/main" val="669647404"/>
                    </a:ext>
                  </a:extLst>
                </a:gridCol>
                <a:gridCol w="2284984">
                  <a:extLst>
                    <a:ext uri="{9D8B030D-6E8A-4147-A177-3AD203B41FA5}">
                      <a16:colId xmlns:a16="http://schemas.microsoft.com/office/drawing/2014/main" val="3269822794"/>
                    </a:ext>
                  </a:extLst>
                </a:gridCol>
              </a:tblGrid>
              <a:tr h="412467"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Зачистка отливок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457544"/>
                  </a:ext>
                </a:extLst>
              </a:tr>
            </a:tbl>
          </a:graphicData>
        </a:graphic>
      </p:graphicFrame>
      <p:graphicFrame>
        <p:nvGraphicFramePr>
          <p:cNvPr id="18" name="Таблица 17">
            <a:extLst>
              <a:ext uri="{FF2B5EF4-FFF2-40B4-BE49-F238E27FC236}">
                <a16:creationId xmlns:a16="http://schemas.microsoft.com/office/drawing/2014/main" id="{9F658B29-619F-26F2-1E3A-A9C661096B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530175"/>
              </p:ext>
            </p:extLst>
          </p:nvPr>
        </p:nvGraphicFramePr>
        <p:xfrm>
          <a:off x="950976" y="5789678"/>
          <a:ext cx="5903968" cy="1774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998">
                  <a:extLst>
                    <a:ext uri="{9D8B030D-6E8A-4147-A177-3AD203B41FA5}">
                      <a16:colId xmlns:a16="http://schemas.microsoft.com/office/drawing/2014/main" val="610431981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3537769183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2060737768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338597175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4277972712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1993788425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1983583148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4107795072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3691972538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1165416398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3127433988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1636613958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1004398979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4136922754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374277967"/>
                    </a:ext>
                  </a:extLst>
                </a:gridCol>
                <a:gridCol w="368998">
                  <a:extLst>
                    <a:ext uri="{9D8B030D-6E8A-4147-A177-3AD203B41FA5}">
                      <a16:colId xmlns:a16="http://schemas.microsoft.com/office/drawing/2014/main" val="2061718540"/>
                    </a:ext>
                  </a:extLst>
                </a:gridCol>
              </a:tblGrid>
              <a:tr h="262620">
                <a:tc gridSpan="16"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ДОРАБОТКА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8890967"/>
                  </a:ext>
                </a:extLst>
              </a:tr>
              <a:tr h="678027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Лапы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Питатель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Корона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Несоответствие размеров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Несоответствие внешнего вида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Наплыв металла на поверхности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Прорыв металла в резьбе (вороток)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Вырыв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Облой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Песок на поверхности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Песок в резьбе (вороток)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Клей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000" b="1" i="1" u="none" strike="noStrike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Коробление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9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Дефект п/м (покрытие)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Смещение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268677"/>
                  </a:ext>
                </a:extLst>
              </a:tr>
              <a:tr h="506509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подтёк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по шву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5993419"/>
                  </a:ext>
                </a:extLst>
              </a:tr>
              <a:tr h="327491">
                <a:tc>
                  <a:txBody>
                    <a:bodyPr/>
                    <a:lstStyle/>
                    <a:p>
                      <a:pPr algn="ctr"/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9314936"/>
                  </a:ext>
                </a:extLst>
              </a:tr>
            </a:tbl>
          </a:graphicData>
        </a:graphic>
      </p:graphicFrame>
      <p:graphicFrame>
        <p:nvGraphicFramePr>
          <p:cNvPr id="22" name="Таблица 21">
            <a:extLst>
              <a:ext uri="{FF2B5EF4-FFF2-40B4-BE49-F238E27FC236}">
                <a16:creationId xmlns:a16="http://schemas.microsoft.com/office/drawing/2014/main" id="{5091C53B-2FBD-2EEF-47A8-DB3F26C2A5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6860894"/>
              </p:ext>
            </p:extLst>
          </p:nvPr>
        </p:nvGraphicFramePr>
        <p:xfrm>
          <a:off x="0" y="7568338"/>
          <a:ext cx="6858016" cy="17517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728">
                  <a:extLst>
                    <a:ext uri="{9D8B030D-6E8A-4147-A177-3AD203B41FA5}">
                      <a16:colId xmlns:a16="http://schemas.microsoft.com/office/drawing/2014/main" val="655155884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142457269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1512520388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3435076607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1971822524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2673524797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1071996424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872006989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684132641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688398887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1146031796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1375349407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3636508242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1965016444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578221918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3286227942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3529732698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1093561990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293633382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3595429426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1036195196"/>
                    </a:ext>
                  </a:extLst>
                </a:gridCol>
                <a:gridCol w="311728">
                  <a:extLst>
                    <a:ext uri="{9D8B030D-6E8A-4147-A177-3AD203B41FA5}">
                      <a16:colId xmlns:a16="http://schemas.microsoft.com/office/drawing/2014/main" val="3843341039"/>
                    </a:ext>
                  </a:extLst>
                </a:gridCol>
              </a:tblGrid>
              <a:tr h="212521">
                <a:tc gridSpan="22"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ОКОНЧАТЕЛЬНЫЙ БРАК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007068"/>
                  </a:ext>
                </a:extLst>
              </a:tr>
              <a:tr h="56092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Недолив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Раковины на корпусе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Коробление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Спай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Трещины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Пригар песка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9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Пористость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Вырыв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Скол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Слом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Зарез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000" b="1" i="1" u="none" strike="noStrike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Нарушение геометрии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Рыхлота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Непроклей</a:t>
                      </a:r>
                      <a:endParaRPr lang="ru-RU" sz="1000" b="1" i="1" u="none" strike="noStrike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Брак п/м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Наплыв металла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Несоответствие размеров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Несоответствие внешнего вида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Нарушение маркировки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Неслитина</a:t>
                      </a:r>
                      <a:endParaRPr lang="ru-RU" sz="1000" b="1" i="1" u="none" strike="noStrike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Прочее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903800"/>
                  </a:ext>
                </a:extLst>
              </a:tr>
              <a:tr h="560921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л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b="1" i="1" u="none" strike="noStrik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Times New Roman" panose="02020603050405020304" pitchFamily="18" charset="0"/>
                        </a:rPr>
                        <a:t>п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3346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0624673"/>
                  </a:ext>
                </a:extLst>
              </a:tr>
            </a:tbl>
          </a:graphicData>
        </a:graphic>
      </p:graphicFrame>
      <p:graphicFrame>
        <p:nvGraphicFramePr>
          <p:cNvPr id="25" name="Таблица 24">
            <a:extLst>
              <a:ext uri="{FF2B5EF4-FFF2-40B4-BE49-F238E27FC236}">
                <a16:creationId xmlns:a16="http://schemas.microsoft.com/office/drawing/2014/main" id="{135586D4-E020-2341-ABB8-F56B77CDDA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639251"/>
              </p:ext>
            </p:extLst>
          </p:nvPr>
        </p:nvGraphicFramePr>
        <p:xfrm>
          <a:off x="0" y="5789676"/>
          <a:ext cx="950976" cy="1774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992">
                  <a:extLst>
                    <a:ext uri="{9D8B030D-6E8A-4147-A177-3AD203B41FA5}">
                      <a16:colId xmlns:a16="http://schemas.microsoft.com/office/drawing/2014/main" val="360842774"/>
                    </a:ext>
                  </a:extLst>
                </a:gridCol>
                <a:gridCol w="316992">
                  <a:extLst>
                    <a:ext uri="{9D8B030D-6E8A-4147-A177-3AD203B41FA5}">
                      <a16:colId xmlns:a16="http://schemas.microsoft.com/office/drawing/2014/main" val="3903601910"/>
                    </a:ext>
                  </a:extLst>
                </a:gridCol>
                <a:gridCol w="316992">
                  <a:extLst>
                    <a:ext uri="{9D8B030D-6E8A-4147-A177-3AD203B41FA5}">
                      <a16:colId xmlns:a16="http://schemas.microsoft.com/office/drawing/2014/main" val="850395368"/>
                    </a:ext>
                  </a:extLst>
                </a:gridCol>
              </a:tblGrid>
              <a:tr h="260795">
                <a:tc gridSpan="3"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2-ОЙ СОРТ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100" dirty="0">
                        <a:latin typeface="Aptos Display" panose="020B0004020202020204" pitchFamily="34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0254193"/>
                  </a:ext>
                </a:extLst>
              </a:tr>
              <a:tr h="742319">
                <a:tc rowSpan="2"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Раковины</a:t>
                      </a:r>
                    </a:p>
                  </a:txBody>
                  <a:tcPr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Зарез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62704"/>
                  </a:ext>
                </a:extLst>
              </a:tr>
              <a:tr h="444283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Display" panose="020B0004020202020204" pitchFamily="34" charset="0"/>
                        </a:rPr>
                        <a:t>п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206585"/>
                  </a:ext>
                </a:extLst>
              </a:tr>
              <a:tr h="327251"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Display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696182"/>
                  </a:ext>
                </a:extLst>
              </a:tr>
            </a:tbl>
          </a:graphicData>
        </a:graphic>
      </p:graphicFrame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23AB1873-3EEB-D0AA-B11E-6DC51459C97E}"/>
              </a:ext>
            </a:extLst>
          </p:cNvPr>
          <p:cNvGrpSpPr/>
          <p:nvPr/>
        </p:nvGrpSpPr>
        <p:grpSpPr>
          <a:xfrm>
            <a:off x="4587984" y="3643666"/>
            <a:ext cx="1157088" cy="484578"/>
            <a:chOff x="4587984" y="3716818"/>
            <a:chExt cx="1157088" cy="484578"/>
          </a:xfrm>
          <a:solidFill>
            <a:schemeClr val="bg1"/>
          </a:solidFill>
        </p:grpSpPr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A374E3B3-02B1-B389-5A19-8ADFCCF80BDF}"/>
                </a:ext>
              </a:extLst>
            </p:cNvPr>
            <p:cNvGrpSpPr/>
            <p:nvPr/>
          </p:nvGrpSpPr>
          <p:grpSpPr>
            <a:xfrm>
              <a:off x="4594080" y="3716818"/>
              <a:ext cx="1150992" cy="149298"/>
              <a:chOff x="4594080" y="3716818"/>
              <a:chExt cx="1150992" cy="149298"/>
            </a:xfrm>
            <a:grpFill/>
          </p:grpSpPr>
          <p:sp>
            <p:nvSpPr>
              <p:cNvPr id="13" name="Блок-схема: процесс 12">
                <a:extLst>
                  <a:ext uri="{FF2B5EF4-FFF2-40B4-BE49-F238E27FC236}">
                    <a16:creationId xmlns:a16="http://schemas.microsoft.com/office/drawing/2014/main" id="{3BFAD52A-058A-F3E2-03EB-5BE1A64E8EC9}"/>
                  </a:ext>
                </a:extLst>
              </p:cNvPr>
              <p:cNvSpPr/>
              <p:nvPr/>
            </p:nvSpPr>
            <p:spPr>
              <a:xfrm>
                <a:off x="4594080" y="3716818"/>
                <a:ext cx="144000" cy="144000"/>
              </a:xfrm>
              <a:prstGeom prst="flowChartProcess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dirty="0">
                  <a:ln>
                    <a:solidFill>
                      <a:schemeClr val="bg1"/>
                    </a:solidFill>
                  </a:ln>
                  <a:solidFill>
                    <a:schemeClr val="bg1"/>
                  </a:solidFill>
                  <a:highlight>
                    <a:srgbClr val="FFFF00"/>
                  </a:highlight>
                </a:endParaRPr>
              </a:p>
            </p:txBody>
          </p:sp>
          <p:sp>
            <p:nvSpPr>
              <p:cNvPr id="14" name="Блок-схема: процесс 13">
                <a:extLst>
                  <a:ext uri="{FF2B5EF4-FFF2-40B4-BE49-F238E27FC236}">
                    <a16:creationId xmlns:a16="http://schemas.microsoft.com/office/drawing/2014/main" id="{6C7D0876-D62B-7B7C-45D7-7ED8E479DBF6}"/>
                  </a:ext>
                </a:extLst>
              </p:cNvPr>
              <p:cNvSpPr/>
              <p:nvPr/>
            </p:nvSpPr>
            <p:spPr>
              <a:xfrm>
                <a:off x="5601072" y="3722116"/>
                <a:ext cx="144000" cy="144000"/>
              </a:xfrm>
              <a:prstGeom prst="flowChartProcess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dirty="0">
                  <a:ln>
                    <a:solidFill>
                      <a:schemeClr val="bg1"/>
                    </a:solidFill>
                  </a:ln>
                  <a:solidFill>
                    <a:schemeClr val="bg1"/>
                  </a:solidFill>
                  <a:highlight>
                    <a:srgbClr val="FFFF00"/>
                  </a:highlight>
                </a:endParaRPr>
              </a:p>
            </p:txBody>
          </p:sp>
        </p:grpSp>
        <p:grpSp>
          <p:nvGrpSpPr>
            <p:cNvPr id="27" name="Группа 26">
              <a:extLst>
                <a:ext uri="{FF2B5EF4-FFF2-40B4-BE49-F238E27FC236}">
                  <a16:creationId xmlns:a16="http://schemas.microsoft.com/office/drawing/2014/main" id="{B71ACD97-21F3-EA32-40B4-2A11A09ABBB3}"/>
                </a:ext>
              </a:extLst>
            </p:cNvPr>
            <p:cNvGrpSpPr/>
            <p:nvPr/>
          </p:nvGrpSpPr>
          <p:grpSpPr>
            <a:xfrm>
              <a:off x="4587984" y="4052098"/>
              <a:ext cx="1150992" cy="149298"/>
              <a:chOff x="4594080" y="3716818"/>
              <a:chExt cx="1150992" cy="149298"/>
            </a:xfrm>
            <a:grpFill/>
          </p:grpSpPr>
          <p:sp>
            <p:nvSpPr>
              <p:cNvPr id="28" name="Блок-схема: процесс 27">
                <a:extLst>
                  <a:ext uri="{FF2B5EF4-FFF2-40B4-BE49-F238E27FC236}">
                    <a16:creationId xmlns:a16="http://schemas.microsoft.com/office/drawing/2014/main" id="{A23EB8BE-0C52-771C-147D-DFC868F9FD88}"/>
                  </a:ext>
                </a:extLst>
              </p:cNvPr>
              <p:cNvSpPr/>
              <p:nvPr/>
            </p:nvSpPr>
            <p:spPr>
              <a:xfrm>
                <a:off x="4594080" y="3716818"/>
                <a:ext cx="144000" cy="144000"/>
              </a:xfrm>
              <a:prstGeom prst="flowChartProcess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dirty="0">
                  <a:ln>
                    <a:solidFill>
                      <a:schemeClr val="bg1"/>
                    </a:solidFill>
                  </a:ln>
                  <a:solidFill>
                    <a:schemeClr val="bg1"/>
                  </a:solidFill>
                  <a:highlight>
                    <a:srgbClr val="FFFF00"/>
                  </a:highlight>
                </a:endParaRPr>
              </a:p>
            </p:txBody>
          </p:sp>
          <p:sp>
            <p:nvSpPr>
              <p:cNvPr id="29" name="Блок-схема: процесс 28">
                <a:extLst>
                  <a:ext uri="{FF2B5EF4-FFF2-40B4-BE49-F238E27FC236}">
                    <a16:creationId xmlns:a16="http://schemas.microsoft.com/office/drawing/2014/main" id="{61F49E40-C11E-B8E3-1DF2-1398597C12AB}"/>
                  </a:ext>
                </a:extLst>
              </p:cNvPr>
              <p:cNvSpPr/>
              <p:nvPr/>
            </p:nvSpPr>
            <p:spPr>
              <a:xfrm>
                <a:off x="5601072" y="3722116"/>
                <a:ext cx="144000" cy="144000"/>
              </a:xfrm>
              <a:prstGeom prst="flowChartProcess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dirty="0">
                  <a:ln>
                    <a:solidFill>
                      <a:schemeClr val="bg1"/>
                    </a:solidFill>
                  </a:ln>
                  <a:solidFill>
                    <a:schemeClr val="bg1"/>
                  </a:solidFill>
                  <a:highlight>
                    <a:srgbClr val="FFFF00"/>
                  </a:highlight>
                </a:endParaRPr>
              </a:p>
            </p:txBody>
          </p:sp>
        </p:grpSp>
      </p:grpSp>
      <p:graphicFrame>
        <p:nvGraphicFramePr>
          <p:cNvPr id="31" name="Таблица 30">
            <a:extLst>
              <a:ext uri="{FF2B5EF4-FFF2-40B4-BE49-F238E27FC236}">
                <a16:creationId xmlns:a16="http://schemas.microsoft.com/office/drawing/2014/main" id="{C3CDBDA0-960A-C7B3-F31A-772B6EE622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002239"/>
              </p:ext>
            </p:extLst>
          </p:nvPr>
        </p:nvGraphicFramePr>
        <p:xfrm>
          <a:off x="1" y="5009390"/>
          <a:ext cx="6854946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3">
                  <a:extLst>
                    <a:ext uri="{9D8B030D-6E8A-4147-A177-3AD203B41FA5}">
                      <a16:colId xmlns:a16="http://schemas.microsoft.com/office/drawing/2014/main" val="3383120630"/>
                    </a:ext>
                  </a:extLst>
                </a:gridCol>
                <a:gridCol w="938784">
                  <a:extLst>
                    <a:ext uri="{9D8B030D-6E8A-4147-A177-3AD203B41FA5}">
                      <a16:colId xmlns:a16="http://schemas.microsoft.com/office/drawing/2014/main" val="1498013524"/>
                    </a:ext>
                  </a:extLst>
                </a:gridCol>
                <a:gridCol w="1304544">
                  <a:extLst>
                    <a:ext uri="{9D8B030D-6E8A-4147-A177-3AD203B41FA5}">
                      <a16:colId xmlns:a16="http://schemas.microsoft.com/office/drawing/2014/main" val="353885596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662806033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931122664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1085908100"/>
                    </a:ext>
                  </a:extLst>
                </a:gridCol>
                <a:gridCol w="1685539">
                  <a:extLst>
                    <a:ext uri="{9D8B030D-6E8A-4147-A177-3AD203B41FA5}">
                      <a16:colId xmlns:a16="http://schemas.microsoft.com/office/drawing/2014/main" val="1608115059"/>
                    </a:ext>
                  </a:extLst>
                </a:gridCol>
              </a:tblGrid>
              <a:tr h="203369">
                <a:tc rowSpan="2" gridSpan="6">
                  <a:txBody>
                    <a:bodyPr/>
                    <a:lstStyle/>
                    <a:p>
                      <a:pPr algn="ctr"/>
                      <a:r>
                        <a:rPr lang="ru-RU" sz="14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СОРТИРОВКА</a:t>
                      </a:r>
                      <a:endParaRPr lang="ru-RU" sz="12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ru-RU" sz="1100" dirty="0">
                        <a:latin typeface="Aptos Narrow" panose="020B0004020202020204" pitchFamily="34" charset="0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ru-RU" sz="1100" dirty="0">
                        <a:latin typeface="Aptos Narrow" panose="020B0004020202020204" pitchFamily="34" charset="0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ru-RU" sz="1100" dirty="0">
                        <a:latin typeface="Aptos Narrow" panose="020B0004020202020204" pitchFamily="34" charset="0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ru-RU" sz="1100" dirty="0">
                        <a:latin typeface="Aptos Narrow" panose="020B0004020202020204" pitchFamily="34" charset="0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ru-RU" sz="1100" dirty="0">
                        <a:latin typeface="Aptos Narrow" panose="020B0004020202020204" pitchFamily="34" charset="0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КОНТРОЛЕРЫ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358164"/>
                  </a:ext>
                </a:extLst>
              </a:tr>
              <a:tr h="203369">
                <a:tc gridSpan="6" vMerge="1">
                  <a:txBody>
                    <a:bodyPr/>
                    <a:lstStyle/>
                    <a:p>
                      <a:endParaRPr lang="ru-RU" sz="1100">
                        <a:latin typeface="Aptos Narrow" panose="020B0004020202020204" pitchFamily="34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ru-RU" sz="1100">
                        <a:latin typeface="Aptos Narrow" panose="020B0004020202020204" pitchFamily="34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ru-RU" sz="1100" dirty="0">
                        <a:latin typeface="Aptos Narrow" panose="020B0004020202020204" pitchFamily="34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ru-RU" sz="1100" dirty="0">
                        <a:latin typeface="Aptos Narrow" panose="020B0004020202020204" pitchFamily="34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ru-RU" sz="1100" dirty="0">
                        <a:latin typeface="Aptos Narrow" panose="020B0004020202020204" pitchFamily="34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ru-RU" sz="1100" dirty="0">
                        <a:latin typeface="Aptos Narrow" panose="020B00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1.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246229"/>
                  </a:ext>
                </a:extLst>
              </a:tr>
              <a:tr h="203369">
                <a:tc>
                  <a:txBody>
                    <a:bodyPr/>
                    <a:lstStyle/>
                    <a:p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ДАТА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Предъявлено, шт.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Принято, шт.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1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ptos Narrow" panose="020B0004020202020204" pitchFamily="34" charset="0"/>
                        </a:rPr>
                        <a:t>2.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574468"/>
                  </a:ext>
                </a:extLst>
              </a:tr>
            </a:tbl>
          </a:graphicData>
        </a:graphic>
      </p:graphicFrame>
      <p:graphicFrame>
        <p:nvGraphicFramePr>
          <p:cNvPr id="32" name="Таблица 31">
            <a:extLst>
              <a:ext uri="{FF2B5EF4-FFF2-40B4-BE49-F238E27FC236}">
                <a16:creationId xmlns:a16="http://schemas.microsoft.com/office/drawing/2014/main" id="{9D995524-87AC-CD62-48AA-037F123E3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715455"/>
              </p:ext>
            </p:extLst>
          </p:nvPr>
        </p:nvGraphicFramePr>
        <p:xfrm>
          <a:off x="0" y="9356344"/>
          <a:ext cx="6854946" cy="47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4946">
                  <a:extLst>
                    <a:ext uri="{9D8B030D-6E8A-4147-A177-3AD203B41FA5}">
                      <a16:colId xmlns:a16="http://schemas.microsoft.com/office/drawing/2014/main" val="603335042"/>
                    </a:ext>
                  </a:extLst>
                </a:gridCol>
              </a:tblGrid>
              <a:tr h="239268">
                <a:tc>
                  <a:txBody>
                    <a:bodyPr/>
                    <a:lstStyle/>
                    <a:p>
                      <a:r>
                        <a:rPr lang="ru-RU" sz="900" b="1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ПРИМЕЧАНИЕ: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4873893"/>
                  </a:ext>
                </a:extLst>
              </a:tr>
              <a:tr h="239268">
                <a:tc>
                  <a:txBody>
                    <a:bodyPr/>
                    <a:lstStyle/>
                    <a:p>
                      <a:endParaRPr lang="ru-RU" sz="900" b="1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115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774568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Серая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A198FB-474A-40CE-AFD6-25B37E126BD8}">
  <we:reference id="wa104051163" version="1.2.0.3" store="ru-RU" storeType="OMEX"/>
  <we:alternateReferences>
    <we:reference id="wa104051163" version="1.2.0.3" store="wa1040511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179</TotalTime>
  <Words>168</Words>
  <Application>Microsoft Office PowerPoint</Application>
  <PresentationFormat>Лист A4 (210x297 мм)</PresentationFormat>
  <Paragraphs>80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8" baseType="lpstr">
      <vt:lpstr>Aptos Display</vt:lpstr>
      <vt:lpstr>Aptos Narrow</vt:lpstr>
      <vt:lpstr>Arial</vt:lpstr>
      <vt:lpstr>Calibri</vt:lpstr>
      <vt:lpstr>Calibri Light</vt:lpstr>
      <vt:lpstr>Times New Roman</vt:lpstr>
      <vt:lpstr>Тема Office 2013–2022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Fedotov</dc:creator>
  <cp:lastModifiedBy>Andrew Fedotov</cp:lastModifiedBy>
  <cp:revision>31</cp:revision>
  <cp:lastPrinted>2025-05-13T04:59:16Z</cp:lastPrinted>
  <dcterms:created xsi:type="dcterms:W3CDTF">2025-03-05T04:07:41Z</dcterms:created>
  <dcterms:modified xsi:type="dcterms:W3CDTF">2025-05-13T06:19:19Z</dcterms:modified>
</cp:coreProperties>
</file>