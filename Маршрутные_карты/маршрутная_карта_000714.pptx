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1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3006" y="102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93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71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72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00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129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493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49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823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396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64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594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289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9095A18-0B6A-D730-1EC0-9444710D476A}"/>
              </a:ext>
            </a:extLst>
          </p:cNvPr>
          <p:cNvSpPr/>
          <p:nvPr/>
        </p:nvSpPr>
        <p:spPr>
          <a:xfrm>
            <a:off x="1439385" y="0"/>
            <a:ext cx="397923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ru-RU" sz="32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МАРШРУТНАЯ КАРТА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2ABF7DB-5811-2B8B-802D-63F9282B3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003140"/>
              </p:ext>
            </p:extLst>
          </p:nvPr>
        </p:nvGraphicFramePr>
        <p:xfrm>
          <a:off x="1" y="578128"/>
          <a:ext cx="6854947" cy="830869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1767567">
                  <a:extLst>
                    <a:ext uri="{9D8B030D-6E8A-4147-A177-3AD203B41FA5}">
                      <a16:colId xmlns:a16="http://schemas.microsoft.com/office/drawing/2014/main" val="1928705123"/>
                    </a:ext>
                  </a:extLst>
                </a:gridCol>
                <a:gridCol w="2088220">
                  <a:extLst>
                    <a:ext uri="{9D8B030D-6E8A-4147-A177-3AD203B41FA5}">
                      <a16:colId xmlns:a16="http://schemas.microsoft.com/office/drawing/2014/main" val="4120498213"/>
                    </a:ext>
                  </a:extLst>
                </a:gridCol>
                <a:gridCol w="1155947">
                  <a:extLst>
                    <a:ext uri="{9D8B030D-6E8A-4147-A177-3AD203B41FA5}">
                      <a16:colId xmlns:a16="http://schemas.microsoft.com/office/drawing/2014/main" val="3251564017"/>
                    </a:ext>
                  </a:extLst>
                </a:gridCol>
                <a:gridCol w="938366">
                  <a:extLst>
                    <a:ext uri="{9D8B030D-6E8A-4147-A177-3AD203B41FA5}">
                      <a16:colId xmlns:a16="http://schemas.microsoft.com/office/drawing/2014/main" val="1570759852"/>
                    </a:ext>
                  </a:extLst>
                </a:gridCol>
                <a:gridCol w="904847">
                  <a:extLst>
                    <a:ext uri="{9D8B030D-6E8A-4147-A177-3AD203B41FA5}">
                      <a16:colId xmlns:a16="http://schemas.microsoft.com/office/drawing/2014/main" val="2949299295"/>
                    </a:ext>
                  </a:extLst>
                </a:gridCol>
              </a:tblGrid>
              <a:tr h="549897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Наименование 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Тип литниковой системы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кластера 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плавки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382704"/>
                  </a:ext>
                </a:extLst>
              </a:tr>
              <a:tr h="280972"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159734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14B87B6-C5B2-8B1F-7E35-9899250BE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146109"/>
              </p:ext>
            </p:extLst>
          </p:nvPr>
        </p:nvGraphicFramePr>
        <p:xfrm>
          <a:off x="0" y="1453896"/>
          <a:ext cx="6858000" cy="200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3314593692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072079308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771517583"/>
                    </a:ext>
                  </a:extLst>
                </a:gridCol>
                <a:gridCol w="1487424">
                  <a:extLst>
                    <a:ext uri="{9D8B030D-6E8A-4147-A177-3AD203B41FA5}">
                      <a16:colId xmlns:a16="http://schemas.microsoft.com/office/drawing/2014/main" val="350018252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614920181"/>
                    </a:ext>
                  </a:extLst>
                </a:gridCol>
                <a:gridCol w="1030224">
                  <a:extLst>
                    <a:ext uri="{9D8B030D-6E8A-4147-A177-3AD203B41FA5}">
                      <a16:colId xmlns:a16="http://schemas.microsoft.com/office/drawing/2014/main" val="32314010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Наименование операции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Исполнитель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Количество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Примечание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0002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Склейка элементов п/м.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900276"/>
                  </a:ext>
                </a:extLst>
              </a:tr>
              <a:tr h="255016">
                <a:tc rowSpan="2"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Контроль сборки кластера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46910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Время: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649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Заливка форм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276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Обрезка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300638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075A20C8-A4A4-7BB0-DAB9-05B3A8251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1390840"/>
              </p:ext>
            </p:extLst>
          </p:nvPr>
        </p:nvGraphicFramePr>
        <p:xfrm>
          <a:off x="0" y="3455924"/>
          <a:ext cx="6858000" cy="3967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4416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2896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5924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96748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Термообработка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7A036E75-95AB-6BA9-669D-2B65978EE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5183287"/>
              </p:ext>
            </p:extLst>
          </p:nvPr>
        </p:nvGraphicFramePr>
        <p:xfrm>
          <a:off x="3048" y="3852955"/>
          <a:ext cx="685189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8952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8111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4789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5646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100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Дробеметная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обработка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D14C3A1D-056F-33A3-B52E-6D33E722F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9027041"/>
              </p:ext>
            </p:extLst>
          </p:nvPr>
        </p:nvGraphicFramePr>
        <p:xfrm>
          <a:off x="0" y="4636789"/>
          <a:ext cx="685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val="988324038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255361559"/>
                    </a:ext>
                  </a:extLst>
                </a:gridCol>
                <a:gridCol w="1739900">
                  <a:extLst>
                    <a:ext uri="{9D8B030D-6E8A-4147-A177-3AD203B41FA5}">
                      <a16:colId xmlns:a16="http://schemas.microsoft.com/office/drawing/2014/main" val="3236366694"/>
                    </a:ext>
                  </a:extLst>
                </a:gridCol>
                <a:gridCol w="1689100">
                  <a:extLst>
                    <a:ext uri="{9D8B030D-6E8A-4147-A177-3AD203B41FA5}">
                      <a16:colId xmlns:a16="http://schemas.microsoft.com/office/drawing/2014/main" val="16659549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1.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806019"/>
                  </a:ext>
                </a:extLst>
              </a:tr>
            </a:tbl>
          </a:graphicData>
        </a:graphic>
      </p:graphicFrame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31B0EDD1-BA95-EF31-BE05-4C201A6D2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9971293"/>
              </p:ext>
            </p:extLst>
          </p:nvPr>
        </p:nvGraphicFramePr>
        <p:xfrm>
          <a:off x="0" y="4223795"/>
          <a:ext cx="6854952" cy="4124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4984">
                  <a:extLst>
                    <a:ext uri="{9D8B030D-6E8A-4147-A177-3AD203B41FA5}">
                      <a16:colId xmlns:a16="http://schemas.microsoft.com/office/drawing/2014/main" val="853828310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669647404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3269822794"/>
                    </a:ext>
                  </a:extLst>
                </a:gridCol>
              </a:tblGrid>
              <a:tr h="412467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Зачистка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457544"/>
                  </a:ext>
                </a:extLst>
              </a:tr>
            </a:tbl>
          </a:graphicData>
        </a:graphic>
      </p:graphicFrame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9F658B29-619F-26F2-1E3A-A9C661096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530175"/>
              </p:ext>
            </p:extLst>
          </p:nvPr>
        </p:nvGraphicFramePr>
        <p:xfrm>
          <a:off x="950976" y="5789678"/>
          <a:ext cx="5903968" cy="17746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998">
                  <a:extLst>
                    <a:ext uri="{9D8B030D-6E8A-4147-A177-3AD203B41FA5}">
                      <a16:colId xmlns:a16="http://schemas.microsoft.com/office/drawing/2014/main" val="610431981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537769183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206073776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38597175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277972712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993788425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98358314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107795072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69197253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16541639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12743398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63661395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004398979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136922754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74277967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2061718540"/>
                    </a:ext>
                  </a:extLst>
                </a:gridCol>
              </a:tblGrid>
              <a:tr h="262620">
                <a:tc gridSpan="16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ДОРАБОТКА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890967"/>
                  </a:ext>
                </a:extLst>
              </a:tr>
              <a:tr h="678027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Лапы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Питатель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Корона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Прорыв металла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Облой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Клей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Дефект п/м (покрытие)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Смещение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268677"/>
                  </a:ext>
                </a:extLst>
              </a:tr>
              <a:tr h="506509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подтёк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 шву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5993419"/>
                  </a:ext>
                </a:extLst>
              </a:tr>
              <a:tr h="327491"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314936"/>
                  </a:ext>
                </a:extLst>
              </a:tr>
            </a:tbl>
          </a:graphicData>
        </a:graphic>
      </p:graphicFrame>
      <p:graphicFrame>
        <p:nvGraphicFramePr>
          <p:cNvPr id="22" name="Таблица 21">
            <a:extLst>
              <a:ext uri="{FF2B5EF4-FFF2-40B4-BE49-F238E27FC236}">
                <a16:creationId xmlns:a16="http://schemas.microsoft.com/office/drawing/2014/main" id="{5091C53B-2FBD-2EEF-47A8-DB3F26C2A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6860894"/>
              </p:ext>
            </p:extLst>
          </p:nvPr>
        </p:nvGraphicFramePr>
        <p:xfrm>
          <a:off x="0" y="7568338"/>
          <a:ext cx="6858016" cy="17517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1728">
                  <a:extLst>
                    <a:ext uri="{9D8B030D-6E8A-4147-A177-3AD203B41FA5}">
                      <a16:colId xmlns:a16="http://schemas.microsoft.com/office/drawing/2014/main" val="65515588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42457269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51252038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43507660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97182252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267352479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7199642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872006989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684132641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68839888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14603179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37534940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63650824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96501644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57822191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28622794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52973269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93561990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29363338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59542942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3619519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843341039"/>
                    </a:ext>
                  </a:extLst>
                </a:gridCol>
              </a:tblGrid>
              <a:tr h="212521">
                <a:tc gridSpan="2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ОКОНЧАТЕЛЬНЫЙ БРАК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007068"/>
                  </a:ext>
                </a:extLst>
              </a:tr>
              <a:tr h="560921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Недолив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Раковины на корпусе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Спай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Трещины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Пригар песка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Пористость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Скол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Слом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Зарез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геометрии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Рыхлота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Непроклей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Брак п/м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маркировки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Неслитина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Прочее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03800"/>
                  </a:ext>
                </a:extLst>
              </a:tr>
              <a:tr h="560921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33460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624673"/>
                  </a:ext>
                </a:extLst>
              </a:tr>
            </a:tbl>
          </a:graphicData>
        </a:graphic>
      </p:graphicFrame>
      <p:graphicFrame>
        <p:nvGraphicFramePr>
          <p:cNvPr id="25" name="Таблица 24">
            <a:extLst>
              <a:ext uri="{FF2B5EF4-FFF2-40B4-BE49-F238E27FC236}">
                <a16:creationId xmlns:a16="http://schemas.microsoft.com/office/drawing/2014/main" id="{135586D4-E020-2341-ABB8-F56B77CDD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4639251"/>
              </p:ext>
            </p:extLst>
          </p:nvPr>
        </p:nvGraphicFramePr>
        <p:xfrm>
          <a:off x="0" y="5789676"/>
          <a:ext cx="950976" cy="1774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6992">
                  <a:extLst>
                    <a:ext uri="{9D8B030D-6E8A-4147-A177-3AD203B41FA5}">
                      <a16:colId xmlns:a16="http://schemas.microsoft.com/office/drawing/2014/main" val="360842774"/>
                    </a:ext>
                  </a:extLst>
                </a:gridCol>
                <a:gridCol w="316992">
                  <a:extLst>
                    <a:ext uri="{9D8B030D-6E8A-4147-A177-3AD203B41FA5}">
                      <a16:colId xmlns:a16="http://schemas.microsoft.com/office/drawing/2014/main" val="3903601910"/>
                    </a:ext>
                  </a:extLst>
                </a:gridCol>
                <a:gridCol w="316992">
                  <a:extLst>
                    <a:ext uri="{9D8B030D-6E8A-4147-A177-3AD203B41FA5}">
                      <a16:colId xmlns:a16="http://schemas.microsoft.com/office/drawing/2014/main" val="850395368"/>
                    </a:ext>
                  </a:extLst>
                </a:gridCol>
              </a:tblGrid>
              <a:tr h="260795">
                <a:tc gridSpan="3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2-ОЙ СОРТ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1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0254193"/>
                  </a:ext>
                </a:extLst>
              </a:tr>
              <a:tr h="742319">
                <a:tc row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Раковины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Зарез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62704"/>
                  </a:ext>
                </a:extLst>
              </a:tr>
              <a:tr h="444283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л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3206585"/>
                  </a:ext>
                </a:extLst>
              </a:tr>
              <a:tr h="327251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696182"/>
                  </a:ext>
                </a:extLst>
              </a:tr>
            </a:tbl>
          </a:graphicData>
        </a:graphic>
      </p:graphicFrame>
      <p:grpSp>
        <p:nvGrpSpPr>
          <p:cNvPr id="30" name="Группа 29">
            <a:extLst>
              <a:ext uri="{FF2B5EF4-FFF2-40B4-BE49-F238E27FC236}">
                <a16:creationId xmlns:a16="http://schemas.microsoft.com/office/drawing/2014/main" id="{23AB1873-3EEB-D0AA-B11E-6DC51459C97E}"/>
              </a:ext>
            </a:extLst>
          </p:cNvPr>
          <p:cNvGrpSpPr/>
          <p:nvPr/>
        </p:nvGrpSpPr>
        <p:grpSpPr>
          <a:xfrm>
            <a:off x="4587984" y="3643666"/>
            <a:ext cx="1157088" cy="484578"/>
            <a:chOff x="4587984" y="3716818"/>
            <a:chExt cx="1157088" cy="484578"/>
          </a:xfrm>
          <a:solidFill>
            <a:schemeClr val="bg1"/>
          </a:solidFill>
        </p:grpSpPr>
        <p:grpSp>
          <p:nvGrpSpPr>
            <p:cNvPr id="15" name="Группа 14">
              <a:extLst>
                <a:ext uri="{FF2B5EF4-FFF2-40B4-BE49-F238E27FC236}">
                  <a16:creationId xmlns:a16="http://schemas.microsoft.com/office/drawing/2014/main" id="{A374E3B3-02B1-B389-5A19-8ADFCCF80BDF}"/>
                </a:ext>
              </a:extLst>
            </p:cNvPr>
            <p:cNvGrpSpPr/>
            <p:nvPr/>
          </p:nvGrpSpPr>
          <p:grpSpPr>
            <a:xfrm>
              <a:off x="4594080" y="371681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13" name="Блок-схема: процесс 12">
                <a:extLst>
                  <a:ext uri="{FF2B5EF4-FFF2-40B4-BE49-F238E27FC236}">
                    <a16:creationId xmlns:a16="http://schemas.microsoft.com/office/drawing/2014/main" id="{3BFAD52A-058A-F3E2-03EB-5BE1A64E8EC9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14" name="Блок-схема: процесс 13">
                <a:extLst>
                  <a:ext uri="{FF2B5EF4-FFF2-40B4-BE49-F238E27FC236}">
                    <a16:creationId xmlns:a16="http://schemas.microsoft.com/office/drawing/2014/main" id="{6C7D0876-D62B-7B7C-45D7-7ED8E479DBF6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  <p:grpSp>
          <p:nvGrpSpPr>
            <p:cNvPr id="27" name="Группа 26">
              <a:extLst>
                <a:ext uri="{FF2B5EF4-FFF2-40B4-BE49-F238E27FC236}">
                  <a16:creationId xmlns:a16="http://schemas.microsoft.com/office/drawing/2014/main" id="{B71ACD97-21F3-EA32-40B4-2A11A09ABBB3}"/>
                </a:ext>
              </a:extLst>
            </p:cNvPr>
            <p:cNvGrpSpPr/>
            <p:nvPr/>
          </p:nvGrpSpPr>
          <p:grpSpPr>
            <a:xfrm>
              <a:off x="4587984" y="405209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28" name="Блок-схема: процесс 27">
                <a:extLst>
                  <a:ext uri="{FF2B5EF4-FFF2-40B4-BE49-F238E27FC236}">
                    <a16:creationId xmlns:a16="http://schemas.microsoft.com/office/drawing/2014/main" id="{A23EB8BE-0C52-771C-147D-DFC868F9FD88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29" name="Блок-схема: процесс 28">
                <a:extLst>
                  <a:ext uri="{FF2B5EF4-FFF2-40B4-BE49-F238E27FC236}">
                    <a16:creationId xmlns:a16="http://schemas.microsoft.com/office/drawing/2014/main" id="{61F49E40-C11E-B8E3-1DF2-1398597C12AB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</p:grpSp>
      <p:graphicFrame>
        <p:nvGraphicFramePr>
          <p:cNvPr id="31" name="Таблица 30">
            <a:extLst>
              <a:ext uri="{FF2B5EF4-FFF2-40B4-BE49-F238E27FC236}">
                <a16:creationId xmlns:a16="http://schemas.microsoft.com/office/drawing/2014/main" id="{C3CDBDA0-960A-C7B3-F31A-772B6EE62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1002239"/>
              </p:ext>
            </p:extLst>
          </p:nvPr>
        </p:nvGraphicFramePr>
        <p:xfrm>
          <a:off x="1" y="5009390"/>
          <a:ext cx="6854946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3">
                  <a:extLst>
                    <a:ext uri="{9D8B030D-6E8A-4147-A177-3AD203B41FA5}">
                      <a16:colId xmlns:a16="http://schemas.microsoft.com/office/drawing/2014/main" val="3383120630"/>
                    </a:ext>
                  </a:extLst>
                </a:gridCol>
                <a:gridCol w="938784">
                  <a:extLst>
                    <a:ext uri="{9D8B030D-6E8A-4147-A177-3AD203B41FA5}">
                      <a16:colId xmlns:a16="http://schemas.microsoft.com/office/drawing/2014/main" val="1498013524"/>
                    </a:ext>
                  </a:extLst>
                </a:gridCol>
                <a:gridCol w="1304544">
                  <a:extLst>
                    <a:ext uri="{9D8B030D-6E8A-4147-A177-3AD203B41FA5}">
                      <a16:colId xmlns:a16="http://schemas.microsoft.com/office/drawing/2014/main" val="353885596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662806033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931122664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1085908100"/>
                    </a:ext>
                  </a:extLst>
                </a:gridCol>
                <a:gridCol w="1685539">
                  <a:extLst>
                    <a:ext uri="{9D8B030D-6E8A-4147-A177-3AD203B41FA5}">
                      <a16:colId xmlns:a16="http://schemas.microsoft.com/office/drawing/2014/main" val="1608115059"/>
                    </a:ext>
                  </a:extLst>
                </a:gridCol>
              </a:tblGrid>
              <a:tr h="203369">
                <a:tc rowSpan="2" gridSpan="6"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СОРТИРОВКА</a:t>
                      </a:r>
                      <a:endParaRPr lang="ru-RU" sz="12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КОНТРОЛЕРЫ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58164"/>
                  </a:ext>
                </a:extLst>
              </a:tr>
              <a:tr h="203369">
                <a:tc gridSpan="6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1.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46229"/>
                  </a:ext>
                </a:extLst>
              </a:tr>
              <a:tr h="203369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Предъявлено,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Принято,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2.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574468"/>
                  </a:ext>
                </a:extLst>
              </a:tr>
            </a:tbl>
          </a:graphicData>
        </a:graphic>
      </p:graphicFrame>
      <p:graphicFrame>
        <p:nvGraphicFramePr>
          <p:cNvPr id="32" name="Таблица 31">
            <a:extLst>
              <a:ext uri="{FF2B5EF4-FFF2-40B4-BE49-F238E27FC236}">
                <a16:creationId xmlns:a16="http://schemas.microsoft.com/office/drawing/2014/main" id="{9D995524-87AC-CD62-48AA-037F123E3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7715455"/>
              </p:ext>
            </p:extLst>
          </p:nvPr>
        </p:nvGraphicFramePr>
        <p:xfrm>
          <a:off x="0" y="9356344"/>
          <a:ext cx="6854946" cy="478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4946">
                  <a:extLst>
                    <a:ext uri="{9D8B030D-6E8A-4147-A177-3AD203B41FA5}">
                      <a16:colId xmlns:a16="http://schemas.microsoft.com/office/drawing/2014/main" val="603335042"/>
                    </a:ext>
                  </a:extLst>
                </a:gridCol>
              </a:tblGrid>
              <a:tr h="239268">
                <a:tc>
                  <a:txBody>
                    <a:bodyPr/>
                    <a:lstStyle/>
                    <a:p>
                      <a:r>
                        <a:rPr lang="ru-RU" sz="9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ПРИМЕЧАНИЕ: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873893"/>
                  </a:ext>
                </a:extLst>
              </a:tr>
              <a:tr h="239268">
                <a:tc>
                  <a:txBody>
                    <a:bodyPr/>
                    <a:lstStyle/>
                    <a:p>
                      <a:endParaRPr lang="ru-RU" sz="9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115358"/>
                  </a:ext>
                </a:extLst>
              </a:tr>
            </a:tbl>
          </a:graphicData>
        </a:graphic>
      </p:graphicFrame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385" y="42387"/>
            <a:ext cx="500000" cy="5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58000" y="200000"/>
            <a:ext cx="12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№ 000714</a:t>
            </a:r>
          </a:p>
        </p:txBody>
      </p:sp>
    </p:spTree>
    <p:extLst>
      <p:ext uri="{BB962C8B-B14F-4D97-AF65-F5344CB8AC3E}">
        <p14:creationId xmlns:p14="http://schemas.microsoft.com/office/powerpoint/2010/main" val="22177456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A198FB-474A-40CE-AFD6-25B37E126BD8}">
  <we:reference id="wa104051163" version="1.2.0.3" store="ru-RU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179</TotalTime>
  <Words>168</Words>
  <Application>Microsoft Office PowerPoint</Application>
  <PresentationFormat>Лист A4 (210x297 мм)</PresentationFormat>
  <Paragraphs>80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8" baseType="lpstr">
      <vt:lpstr>Aptos Display</vt:lpstr>
      <vt:lpstr>Aptos Narrow</vt:lpstr>
      <vt:lpstr>Arial</vt:lpstr>
      <vt:lpstr>Calibri</vt:lpstr>
      <vt:lpstr>Calibri Light</vt:lpstr>
      <vt:lpstr>Times New Roman</vt:lpstr>
      <vt:lpstr>Тема Office 2013–2022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Fedotov</dc:creator>
  <cp:lastModifiedBy>Andrew Fedotov</cp:lastModifiedBy>
  <cp:revision>31</cp:revision>
  <cp:lastPrinted>2025-05-13T04:59:16Z</cp:lastPrinted>
  <dcterms:created xsi:type="dcterms:W3CDTF">2025-03-05T04:07:41Z</dcterms:created>
  <dcterms:modified xsi:type="dcterms:W3CDTF">2025-05-13T06:19:19Z</dcterms:modified>
</cp:coreProperties>
</file>