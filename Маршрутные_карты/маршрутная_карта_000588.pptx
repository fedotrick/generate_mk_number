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01" r:id="rId1"/>
  </p:sldMasterIdLst>
  <p:sldIdLst>
    <p:sldId id="256" r:id="rId2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2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79" d="100"/>
          <a:sy n="79" d="100"/>
        </p:scale>
        <p:origin x="3006" y="102"/>
      </p:cViewPr>
      <p:guideLst>
        <p:guide orient="horz" pos="312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29358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67182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9721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70065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91296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14932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23497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68239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63966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06487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859464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AD347D-5ACD-4C99-B74B-A9C85AD731AF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22896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2" r:id="rId1"/>
    <p:sldLayoutId id="2147483703" r:id="rId2"/>
    <p:sldLayoutId id="2147483704" r:id="rId3"/>
    <p:sldLayoutId id="2147483705" r:id="rId4"/>
    <p:sldLayoutId id="2147483706" r:id="rId5"/>
    <p:sldLayoutId id="2147483707" r:id="rId6"/>
    <p:sldLayoutId id="2147483708" r:id="rId7"/>
    <p:sldLayoutId id="2147483709" r:id="rId8"/>
    <p:sldLayoutId id="2147483710" r:id="rId9"/>
    <p:sldLayoutId id="2147483711" r:id="rId10"/>
    <p:sldLayoutId id="2147483712" r:id="rId11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99095A18-0B6A-D730-1EC0-9444710D476A}"/>
              </a:ext>
            </a:extLst>
          </p:cNvPr>
          <p:cNvSpPr/>
          <p:nvPr/>
        </p:nvSpPr>
        <p:spPr>
          <a:xfrm>
            <a:off x="1439385" y="0"/>
            <a:ext cx="3979231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r"/>
            <a:r>
              <a:rPr lang="ru-RU" sz="3200" b="1" dirty="0">
                <a:ln w="10160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МАРШРУТНАЯ КАРТА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C2ABF7DB-5811-2B8B-802D-63F9282B34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8888809"/>
              </p:ext>
            </p:extLst>
          </p:nvPr>
        </p:nvGraphicFramePr>
        <p:xfrm>
          <a:off x="1" y="578128"/>
          <a:ext cx="6854947" cy="830869"/>
        </p:xfrm>
        <a:graphic>
          <a:graphicData uri="http://schemas.openxmlformats.org/drawingml/2006/table">
            <a:tbl>
              <a:tblPr firstRow="1" bandRow="1"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1767567">
                  <a:extLst>
                    <a:ext uri="{9D8B030D-6E8A-4147-A177-3AD203B41FA5}">
                      <a16:colId xmlns:a16="http://schemas.microsoft.com/office/drawing/2014/main" val="1928705123"/>
                    </a:ext>
                  </a:extLst>
                </a:gridCol>
                <a:gridCol w="2088220">
                  <a:extLst>
                    <a:ext uri="{9D8B030D-6E8A-4147-A177-3AD203B41FA5}">
                      <a16:colId xmlns:a16="http://schemas.microsoft.com/office/drawing/2014/main" val="4120498213"/>
                    </a:ext>
                  </a:extLst>
                </a:gridCol>
                <a:gridCol w="1155947">
                  <a:extLst>
                    <a:ext uri="{9D8B030D-6E8A-4147-A177-3AD203B41FA5}">
                      <a16:colId xmlns:a16="http://schemas.microsoft.com/office/drawing/2014/main" val="3251564017"/>
                    </a:ext>
                  </a:extLst>
                </a:gridCol>
                <a:gridCol w="938366">
                  <a:extLst>
                    <a:ext uri="{9D8B030D-6E8A-4147-A177-3AD203B41FA5}">
                      <a16:colId xmlns:a16="http://schemas.microsoft.com/office/drawing/2014/main" val="1570759852"/>
                    </a:ext>
                  </a:extLst>
                </a:gridCol>
                <a:gridCol w="904847">
                  <a:extLst>
                    <a:ext uri="{9D8B030D-6E8A-4147-A177-3AD203B41FA5}">
                      <a16:colId xmlns:a16="http://schemas.microsoft.com/office/drawing/2014/main" val="2949299295"/>
                    </a:ext>
                  </a:extLst>
                </a:gridCol>
              </a:tblGrid>
              <a:tr h="549897"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Отливки (модели)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Наименование  отливки (модели)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Тип литниковой системы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кластера 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плавки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9382704"/>
                  </a:ext>
                </a:extLst>
              </a:tr>
              <a:tr h="280972"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7159734"/>
                  </a:ext>
                </a:extLst>
              </a:tr>
            </a:tbl>
          </a:graphicData>
        </a:graphic>
      </p:graphicFrame>
      <p:graphicFrame>
        <p:nvGraphicFramePr>
          <p:cNvPr id="7" name="Таблица 6">
            <a:extLst>
              <a:ext uri="{FF2B5EF4-FFF2-40B4-BE49-F238E27FC236}">
                <a16:creationId xmlns:a16="http://schemas.microsoft.com/office/drawing/2014/main" id="{D14B87B6-C5B2-8B1F-7E35-9899250BE8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9146109"/>
              </p:ext>
            </p:extLst>
          </p:nvPr>
        </p:nvGraphicFramePr>
        <p:xfrm>
          <a:off x="0" y="1453896"/>
          <a:ext cx="6858000" cy="200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6064">
                  <a:extLst>
                    <a:ext uri="{9D8B030D-6E8A-4147-A177-3AD203B41FA5}">
                      <a16:colId xmlns:a16="http://schemas.microsoft.com/office/drawing/2014/main" val="3314593692"/>
                    </a:ext>
                  </a:extLst>
                </a:gridCol>
                <a:gridCol w="694944">
                  <a:extLst>
                    <a:ext uri="{9D8B030D-6E8A-4147-A177-3AD203B41FA5}">
                      <a16:colId xmlns:a16="http://schemas.microsoft.com/office/drawing/2014/main" val="3072079308"/>
                    </a:ext>
                  </a:extLst>
                </a:gridCol>
                <a:gridCol w="694944">
                  <a:extLst>
                    <a:ext uri="{9D8B030D-6E8A-4147-A177-3AD203B41FA5}">
                      <a16:colId xmlns:a16="http://schemas.microsoft.com/office/drawing/2014/main" val="3771517583"/>
                    </a:ext>
                  </a:extLst>
                </a:gridCol>
                <a:gridCol w="1487424">
                  <a:extLst>
                    <a:ext uri="{9D8B030D-6E8A-4147-A177-3AD203B41FA5}">
                      <a16:colId xmlns:a16="http://schemas.microsoft.com/office/drawing/2014/main" val="3500182526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614920181"/>
                    </a:ext>
                  </a:extLst>
                </a:gridCol>
                <a:gridCol w="1030224">
                  <a:extLst>
                    <a:ext uri="{9D8B030D-6E8A-4147-A177-3AD203B41FA5}">
                      <a16:colId xmlns:a16="http://schemas.microsoft.com/office/drawing/2014/main" val="323140109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Наименование операции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Исполнитель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Количество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Примечание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430002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Склейка элементов п/м.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6900276"/>
                  </a:ext>
                </a:extLst>
              </a:tr>
              <a:tr h="255016">
                <a:tc rowSpan="2"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Контроль сборки кластера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1469108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Время: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26494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Заливка форм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22761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Обрезка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89300638"/>
                  </a:ext>
                </a:extLst>
              </a:tr>
            </a:tbl>
          </a:graphicData>
        </a:graphic>
      </p:graphicFrame>
      <p:graphicFrame>
        <p:nvGraphicFramePr>
          <p:cNvPr id="9" name="Таблица 8">
            <a:extLst>
              <a:ext uri="{FF2B5EF4-FFF2-40B4-BE49-F238E27FC236}">
                <a16:creationId xmlns:a16="http://schemas.microsoft.com/office/drawing/2014/main" id="{075A20C8-A4A4-7BB0-DAB9-05B3A8251F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1390840"/>
              </p:ext>
            </p:extLst>
          </p:nvPr>
        </p:nvGraphicFramePr>
        <p:xfrm>
          <a:off x="0" y="3455924"/>
          <a:ext cx="6858000" cy="3967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6064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804416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72896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15924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396748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Термообработка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2" name="Таблица 11">
            <a:extLst>
              <a:ext uri="{FF2B5EF4-FFF2-40B4-BE49-F238E27FC236}">
                <a16:creationId xmlns:a16="http://schemas.microsoft.com/office/drawing/2014/main" id="{7A036E75-95AB-6BA9-669D-2B65978EEF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5183287"/>
              </p:ext>
            </p:extLst>
          </p:nvPr>
        </p:nvGraphicFramePr>
        <p:xfrm>
          <a:off x="3048" y="3852955"/>
          <a:ext cx="685189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28952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808111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74789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25646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sz="1100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Дробеметная</a:t>
                      </a:r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 обработка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6" name="Таблица 15">
            <a:extLst>
              <a:ext uri="{FF2B5EF4-FFF2-40B4-BE49-F238E27FC236}">
                <a16:creationId xmlns:a16="http://schemas.microsoft.com/office/drawing/2014/main" id="{D14C3A1D-056F-33A3-B52E-6D33E722F3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9027041"/>
              </p:ext>
            </p:extLst>
          </p:nvPr>
        </p:nvGraphicFramePr>
        <p:xfrm>
          <a:off x="0" y="4636789"/>
          <a:ext cx="6858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4500">
                  <a:extLst>
                    <a:ext uri="{9D8B030D-6E8A-4147-A177-3AD203B41FA5}">
                      <a16:colId xmlns:a16="http://schemas.microsoft.com/office/drawing/2014/main" val="988324038"/>
                    </a:ext>
                  </a:extLst>
                </a:gridCol>
                <a:gridCol w="1714500">
                  <a:extLst>
                    <a:ext uri="{9D8B030D-6E8A-4147-A177-3AD203B41FA5}">
                      <a16:colId xmlns:a16="http://schemas.microsoft.com/office/drawing/2014/main" val="2255361559"/>
                    </a:ext>
                  </a:extLst>
                </a:gridCol>
                <a:gridCol w="1739900">
                  <a:extLst>
                    <a:ext uri="{9D8B030D-6E8A-4147-A177-3AD203B41FA5}">
                      <a16:colId xmlns:a16="http://schemas.microsoft.com/office/drawing/2014/main" val="3236366694"/>
                    </a:ext>
                  </a:extLst>
                </a:gridCol>
                <a:gridCol w="1689100">
                  <a:extLst>
                    <a:ext uri="{9D8B030D-6E8A-4147-A177-3AD203B41FA5}">
                      <a16:colId xmlns:a16="http://schemas.microsoft.com/office/drawing/2014/main" val="166595491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1. Зачистка питателей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2. Зачистка питателей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1806019"/>
                  </a:ext>
                </a:extLst>
              </a:tr>
            </a:tbl>
          </a:graphicData>
        </a:graphic>
      </p:graphicFrame>
      <p:graphicFrame>
        <p:nvGraphicFramePr>
          <p:cNvPr id="17" name="Таблица 16">
            <a:extLst>
              <a:ext uri="{FF2B5EF4-FFF2-40B4-BE49-F238E27FC236}">
                <a16:creationId xmlns:a16="http://schemas.microsoft.com/office/drawing/2014/main" id="{31B0EDD1-BA95-EF31-BE05-4C201A6D21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9971293"/>
              </p:ext>
            </p:extLst>
          </p:nvPr>
        </p:nvGraphicFramePr>
        <p:xfrm>
          <a:off x="0" y="4223795"/>
          <a:ext cx="6854952" cy="41246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4984">
                  <a:extLst>
                    <a:ext uri="{9D8B030D-6E8A-4147-A177-3AD203B41FA5}">
                      <a16:colId xmlns:a16="http://schemas.microsoft.com/office/drawing/2014/main" val="853828310"/>
                    </a:ext>
                  </a:extLst>
                </a:gridCol>
                <a:gridCol w="2284984">
                  <a:extLst>
                    <a:ext uri="{9D8B030D-6E8A-4147-A177-3AD203B41FA5}">
                      <a16:colId xmlns:a16="http://schemas.microsoft.com/office/drawing/2014/main" val="669647404"/>
                    </a:ext>
                  </a:extLst>
                </a:gridCol>
                <a:gridCol w="2284984">
                  <a:extLst>
                    <a:ext uri="{9D8B030D-6E8A-4147-A177-3AD203B41FA5}">
                      <a16:colId xmlns:a16="http://schemas.microsoft.com/office/drawing/2014/main" val="3269822794"/>
                    </a:ext>
                  </a:extLst>
                </a:gridCol>
              </a:tblGrid>
              <a:tr h="412467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Зачистка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9457544"/>
                  </a:ext>
                </a:extLst>
              </a:tr>
            </a:tbl>
          </a:graphicData>
        </a:graphic>
      </p:graphicFrame>
      <p:graphicFrame>
        <p:nvGraphicFramePr>
          <p:cNvPr id="18" name="Таблица 17">
            <a:extLst>
              <a:ext uri="{FF2B5EF4-FFF2-40B4-BE49-F238E27FC236}">
                <a16:creationId xmlns:a16="http://schemas.microsoft.com/office/drawing/2014/main" id="{9F658B29-619F-26F2-1E3A-A9C661096B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12714483"/>
              </p:ext>
            </p:extLst>
          </p:nvPr>
        </p:nvGraphicFramePr>
        <p:xfrm>
          <a:off x="950976" y="5789677"/>
          <a:ext cx="5903970" cy="177464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3598">
                  <a:extLst>
                    <a:ext uri="{9D8B030D-6E8A-4147-A177-3AD203B41FA5}">
                      <a16:colId xmlns:a16="http://schemas.microsoft.com/office/drawing/2014/main" val="610431981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537769183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206073776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38597175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4277972712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993788425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98358314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4107795072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69197253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16541639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12743398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63661395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4136922754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74277967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2061718540"/>
                    </a:ext>
                  </a:extLst>
                </a:gridCol>
              </a:tblGrid>
              <a:tr h="236194">
                <a:tc gridSpan="15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ДОРАБОТКА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8890967"/>
                  </a:ext>
                </a:extLst>
              </a:tr>
              <a:tr h="1145308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Лапы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Питатель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Корона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 на поверхности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Прорыв металла в резьбе (вороток)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Облой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на поверхности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в резьбе (вороток)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Клей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Дефект п/м (покрытие)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Смещение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3268677"/>
                  </a:ext>
                </a:extLst>
              </a:tr>
              <a:tr h="370259"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09314936"/>
                  </a:ext>
                </a:extLst>
              </a:tr>
            </a:tbl>
          </a:graphicData>
        </a:graphic>
      </p:graphicFrame>
      <p:graphicFrame>
        <p:nvGraphicFramePr>
          <p:cNvPr id="22" name="Таблица 21">
            <a:extLst>
              <a:ext uri="{FF2B5EF4-FFF2-40B4-BE49-F238E27FC236}">
                <a16:creationId xmlns:a16="http://schemas.microsoft.com/office/drawing/2014/main" id="{5091C53B-2FBD-2EEF-47A8-DB3F26C2A5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9230131"/>
              </p:ext>
            </p:extLst>
          </p:nvPr>
        </p:nvGraphicFramePr>
        <p:xfrm>
          <a:off x="0" y="7568338"/>
          <a:ext cx="6858012" cy="175176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6572">
                  <a:extLst>
                    <a:ext uri="{9D8B030D-6E8A-4147-A177-3AD203B41FA5}">
                      <a16:colId xmlns:a16="http://schemas.microsoft.com/office/drawing/2014/main" val="65515588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42457269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512520388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435076607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97182252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2673524797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07199642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872006989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684132641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688398887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146031796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636508242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96501644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578221918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286227942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529732698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093561990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293633382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595429426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036195196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843341039"/>
                    </a:ext>
                  </a:extLst>
                </a:gridCol>
              </a:tblGrid>
              <a:tr h="212521">
                <a:tc gridSpan="21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ОКОНЧАТЕЛЬНЫЙ БРАК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3007068"/>
                  </a:ext>
                </a:extLst>
              </a:tr>
              <a:tr h="1121841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Недолив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Раковины на корпусе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Спай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Трещины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Пригар песка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Пористость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Скол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Слом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Зарез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геометрии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Рыхлота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Непроклей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Брак п/м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маркировки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Неслитина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Прочее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9038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00624673"/>
                  </a:ext>
                </a:extLst>
              </a:tr>
            </a:tbl>
          </a:graphicData>
        </a:graphic>
      </p:graphicFrame>
      <p:graphicFrame>
        <p:nvGraphicFramePr>
          <p:cNvPr id="25" name="Таблица 24">
            <a:extLst>
              <a:ext uri="{FF2B5EF4-FFF2-40B4-BE49-F238E27FC236}">
                <a16:creationId xmlns:a16="http://schemas.microsoft.com/office/drawing/2014/main" id="{135586D4-E020-2341-ABB8-F56B77CDDA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17500635"/>
              </p:ext>
            </p:extLst>
          </p:nvPr>
        </p:nvGraphicFramePr>
        <p:xfrm>
          <a:off x="0" y="5789677"/>
          <a:ext cx="950976" cy="177802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5488">
                  <a:extLst>
                    <a:ext uri="{9D8B030D-6E8A-4147-A177-3AD203B41FA5}">
                      <a16:colId xmlns:a16="http://schemas.microsoft.com/office/drawing/2014/main" val="360842774"/>
                    </a:ext>
                  </a:extLst>
                </a:gridCol>
                <a:gridCol w="475488">
                  <a:extLst>
                    <a:ext uri="{9D8B030D-6E8A-4147-A177-3AD203B41FA5}">
                      <a16:colId xmlns:a16="http://schemas.microsoft.com/office/drawing/2014/main" val="3903601910"/>
                    </a:ext>
                  </a:extLst>
                </a:gridCol>
              </a:tblGrid>
              <a:tr h="255700">
                <a:tc gridSpan="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2-ОЙ СОРТ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sz="1100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40254193"/>
                  </a:ext>
                </a:extLst>
              </a:tr>
              <a:tr h="1143381"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Раковины</a:t>
                      </a: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Зарез</a:t>
                      </a: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762704"/>
                  </a:ext>
                </a:extLst>
              </a:tr>
              <a:tr h="375566"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3696182"/>
                  </a:ext>
                </a:extLst>
              </a:tr>
            </a:tbl>
          </a:graphicData>
        </a:graphic>
      </p:graphicFrame>
      <p:grpSp>
        <p:nvGrpSpPr>
          <p:cNvPr id="30" name="Группа 29">
            <a:extLst>
              <a:ext uri="{FF2B5EF4-FFF2-40B4-BE49-F238E27FC236}">
                <a16:creationId xmlns:a16="http://schemas.microsoft.com/office/drawing/2014/main" id="{23AB1873-3EEB-D0AA-B11E-6DC51459C97E}"/>
              </a:ext>
            </a:extLst>
          </p:cNvPr>
          <p:cNvGrpSpPr/>
          <p:nvPr/>
        </p:nvGrpSpPr>
        <p:grpSpPr>
          <a:xfrm>
            <a:off x="4587984" y="3643666"/>
            <a:ext cx="1157088" cy="484578"/>
            <a:chOff x="4587984" y="3716818"/>
            <a:chExt cx="1157088" cy="484578"/>
          </a:xfrm>
          <a:solidFill>
            <a:schemeClr val="bg1"/>
          </a:solidFill>
        </p:grpSpPr>
        <p:grpSp>
          <p:nvGrpSpPr>
            <p:cNvPr id="15" name="Группа 14">
              <a:extLst>
                <a:ext uri="{FF2B5EF4-FFF2-40B4-BE49-F238E27FC236}">
                  <a16:creationId xmlns:a16="http://schemas.microsoft.com/office/drawing/2014/main" id="{A374E3B3-02B1-B389-5A19-8ADFCCF80BDF}"/>
                </a:ext>
              </a:extLst>
            </p:cNvPr>
            <p:cNvGrpSpPr/>
            <p:nvPr/>
          </p:nvGrpSpPr>
          <p:grpSpPr>
            <a:xfrm>
              <a:off x="4594080" y="3716818"/>
              <a:ext cx="1150992" cy="149298"/>
              <a:chOff x="4594080" y="3716818"/>
              <a:chExt cx="1150992" cy="149298"/>
            </a:xfrm>
            <a:grpFill/>
          </p:grpSpPr>
          <p:sp>
            <p:nvSpPr>
              <p:cNvPr id="13" name="Блок-схема: процесс 12">
                <a:extLst>
                  <a:ext uri="{FF2B5EF4-FFF2-40B4-BE49-F238E27FC236}">
                    <a16:creationId xmlns:a16="http://schemas.microsoft.com/office/drawing/2014/main" id="{3BFAD52A-058A-F3E2-03EB-5BE1A64E8EC9}"/>
                  </a:ext>
                </a:extLst>
              </p:cNvPr>
              <p:cNvSpPr/>
              <p:nvPr/>
            </p:nvSpPr>
            <p:spPr>
              <a:xfrm>
                <a:off x="4594080" y="3716818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  <p:sp>
            <p:nvSpPr>
              <p:cNvPr id="14" name="Блок-схема: процесс 13">
                <a:extLst>
                  <a:ext uri="{FF2B5EF4-FFF2-40B4-BE49-F238E27FC236}">
                    <a16:creationId xmlns:a16="http://schemas.microsoft.com/office/drawing/2014/main" id="{6C7D0876-D62B-7B7C-45D7-7ED8E479DBF6}"/>
                  </a:ext>
                </a:extLst>
              </p:cNvPr>
              <p:cNvSpPr/>
              <p:nvPr/>
            </p:nvSpPr>
            <p:spPr>
              <a:xfrm>
                <a:off x="5601072" y="3722116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</p:grpSp>
        <p:grpSp>
          <p:nvGrpSpPr>
            <p:cNvPr id="27" name="Группа 26">
              <a:extLst>
                <a:ext uri="{FF2B5EF4-FFF2-40B4-BE49-F238E27FC236}">
                  <a16:creationId xmlns:a16="http://schemas.microsoft.com/office/drawing/2014/main" id="{B71ACD97-21F3-EA32-40B4-2A11A09ABBB3}"/>
                </a:ext>
              </a:extLst>
            </p:cNvPr>
            <p:cNvGrpSpPr/>
            <p:nvPr/>
          </p:nvGrpSpPr>
          <p:grpSpPr>
            <a:xfrm>
              <a:off x="4587984" y="4052098"/>
              <a:ext cx="1150992" cy="149298"/>
              <a:chOff x="4594080" y="3716818"/>
              <a:chExt cx="1150992" cy="149298"/>
            </a:xfrm>
            <a:grpFill/>
          </p:grpSpPr>
          <p:sp>
            <p:nvSpPr>
              <p:cNvPr id="28" name="Блок-схема: процесс 27">
                <a:extLst>
                  <a:ext uri="{FF2B5EF4-FFF2-40B4-BE49-F238E27FC236}">
                    <a16:creationId xmlns:a16="http://schemas.microsoft.com/office/drawing/2014/main" id="{A23EB8BE-0C52-771C-147D-DFC868F9FD88}"/>
                  </a:ext>
                </a:extLst>
              </p:cNvPr>
              <p:cNvSpPr/>
              <p:nvPr/>
            </p:nvSpPr>
            <p:spPr>
              <a:xfrm>
                <a:off x="4594080" y="3716818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  <p:sp>
            <p:nvSpPr>
              <p:cNvPr id="29" name="Блок-схема: процесс 28">
                <a:extLst>
                  <a:ext uri="{FF2B5EF4-FFF2-40B4-BE49-F238E27FC236}">
                    <a16:creationId xmlns:a16="http://schemas.microsoft.com/office/drawing/2014/main" id="{61F49E40-C11E-B8E3-1DF2-1398597C12AB}"/>
                  </a:ext>
                </a:extLst>
              </p:cNvPr>
              <p:cNvSpPr/>
              <p:nvPr/>
            </p:nvSpPr>
            <p:spPr>
              <a:xfrm>
                <a:off x="5601072" y="3722116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</p:grpSp>
      </p:grpSp>
      <p:graphicFrame>
        <p:nvGraphicFramePr>
          <p:cNvPr id="31" name="Таблица 30">
            <a:extLst>
              <a:ext uri="{FF2B5EF4-FFF2-40B4-BE49-F238E27FC236}">
                <a16:creationId xmlns:a16="http://schemas.microsoft.com/office/drawing/2014/main" id="{C3CDBDA0-960A-C7B3-F31A-772B6EE622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82233042"/>
              </p:ext>
            </p:extLst>
          </p:nvPr>
        </p:nvGraphicFramePr>
        <p:xfrm>
          <a:off x="1" y="5009390"/>
          <a:ext cx="6854946" cy="777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2063">
                  <a:extLst>
                    <a:ext uri="{9D8B030D-6E8A-4147-A177-3AD203B41FA5}">
                      <a16:colId xmlns:a16="http://schemas.microsoft.com/office/drawing/2014/main" val="3383120630"/>
                    </a:ext>
                  </a:extLst>
                </a:gridCol>
                <a:gridCol w="938784">
                  <a:extLst>
                    <a:ext uri="{9D8B030D-6E8A-4147-A177-3AD203B41FA5}">
                      <a16:colId xmlns:a16="http://schemas.microsoft.com/office/drawing/2014/main" val="1498013524"/>
                    </a:ext>
                  </a:extLst>
                </a:gridCol>
                <a:gridCol w="1304544">
                  <a:extLst>
                    <a:ext uri="{9D8B030D-6E8A-4147-A177-3AD203B41FA5}">
                      <a16:colId xmlns:a16="http://schemas.microsoft.com/office/drawing/2014/main" val="3538855965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662806033"/>
                    </a:ext>
                  </a:extLst>
                </a:gridCol>
                <a:gridCol w="1060704">
                  <a:extLst>
                    <a:ext uri="{9D8B030D-6E8A-4147-A177-3AD203B41FA5}">
                      <a16:colId xmlns:a16="http://schemas.microsoft.com/office/drawing/2014/main" val="2931122664"/>
                    </a:ext>
                  </a:extLst>
                </a:gridCol>
                <a:gridCol w="621792">
                  <a:extLst>
                    <a:ext uri="{9D8B030D-6E8A-4147-A177-3AD203B41FA5}">
                      <a16:colId xmlns:a16="http://schemas.microsoft.com/office/drawing/2014/main" val="1085908100"/>
                    </a:ext>
                  </a:extLst>
                </a:gridCol>
                <a:gridCol w="1685539">
                  <a:extLst>
                    <a:ext uri="{9D8B030D-6E8A-4147-A177-3AD203B41FA5}">
                      <a16:colId xmlns:a16="http://schemas.microsoft.com/office/drawing/2014/main" val="1608115059"/>
                    </a:ext>
                  </a:extLst>
                </a:gridCol>
              </a:tblGrid>
              <a:tr h="203369">
                <a:tc rowSpan="2" gridSpan="6">
                  <a:txBody>
                    <a:bodyPr/>
                    <a:lstStyle/>
                    <a:p>
                      <a:pPr algn="ctr"/>
                      <a:r>
                        <a:rPr lang="ru-RU" sz="14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СОРТИРОВКА</a:t>
                      </a:r>
                      <a:endParaRPr lang="ru-RU" sz="12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КОНТРОЛЕРЫ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358164"/>
                  </a:ext>
                </a:extLst>
              </a:tr>
              <a:tr h="203369">
                <a:tc gridSpan="6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246229"/>
                  </a:ext>
                </a:extLst>
              </a:tr>
              <a:tr h="203369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Предъявлено, шт.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Принято, шт.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25574468"/>
                  </a:ext>
                </a:extLst>
              </a:tr>
            </a:tbl>
          </a:graphicData>
        </a:graphic>
      </p:graphicFrame>
      <p:graphicFrame>
        <p:nvGraphicFramePr>
          <p:cNvPr id="32" name="Таблица 31">
            <a:extLst>
              <a:ext uri="{FF2B5EF4-FFF2-40B4-BE49-F238E27FC236}">
                <a16:creationId xmlns:a16="http://schemas.microsoft.com/office/drawing/2014/main" id="{9D995524-87AC-CD62-48AA-037F123E36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3219816"/>
              </p:ext>
            </p:extLst>
          </p:nvPr>
        </p:nvGraphicFramePr>
        <p:xfrm>
          <a:off x="0" y="9356344"/>
          <a:ext cx="6854946" cy="4785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54946">
                  <a:extLst>
                    <a:ext uri="{9D8B030D-6E8A-4147-A177-3AD203B41FA5}">
                      <a16:colId xmlns:a16="http://schemas.microsoft.com/office/drawing/2014/main" val="603335042"/>
                    </a:ext>
                  </a:extLst>
                </a:gridCol>
              </a:tblGrid>
              <a:tr h="239268">
                <a:tc>
                  <a:txBody>
                    <a:bodyPr/>
                    <a:lstStyle/>
                    <a:p>
                      <a:r>
                        <a:rPr lang="ru-RU" sz="900" b="1" dirty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ПРИМЕЧАНИЕ: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4873893"/>
                  </a:ext>
                </a:extLst>
              </a:tr>
              <a:tr h="239268">
                <a:tc>
                  <a:txBody>
                    <a:bodyPr/>
                    <a:lstStyle/>
                    <a:p>
                      <a:endParaRPr lang="ru-RU" sz="900" b="1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2115358"/>
                  </a:ext>
                </a:extLst>
              </a:tr>
            </a:tbl>
          </a:graphicData>
        </a:graphic>
      </p:graphicFrame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9385" y="42387"/>
            <a:ext cx="500000" cy="50000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5358000" y="200000"/>
            <a:ext cx="1200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t>№ 000588</a:t>
            </a:r>
          </a:p>
        </p:txBody>
      </p:sp>
    </p:spTree>
    <p:extLst>
      <p:ext uri="{BB962C8B-B14F-4D97-AF65-F5344CB8AC3E}">
        <p14:creationId xmlns:p14="http://schemas.microsoft.com/office/powerpoint/2010/main" val="2217745684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 2013–2022">
  <a:themeElements>
    <a:clrScheme name="Серая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Тема Office 2013–2022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 2013–2022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1BA198FB-474A-40CE-AFD6-25B37E126BD8}">
  <we:reference id="wa104051163" version="1.2.0.3" store="ru-RU" storeType="OMEX"/>
  <we:alternateReferences>
    <we:reference id="wa104051163" version="1.2.0.3" store="wa104051163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140</TotalTime>
  <Words>157</Words>
  <Application>Microsoft Office PowerPoint</Application>
  <PresentationFormat>Лист A4 (210x297 мм)</PresentationFormat>
  <Paragraphs>72</Paragraphs>
  <Slides>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8" baseType="lpstr">
      <vt:lpstr>Aptos Display</vt:lpstr>
      <vt:lpstr>Aptos Narrow</vt:lpstr>
      <vt:lpstr>Arial</vt:lpstr>
      <vt:lpstr>Calibri</vt:lpstr>
      <vt:lpstr>Calibri Light</vt:lpstr>
      <vt:lpstr>Times New Roman</vt:lpstr>
      <vt:lpstr>Тема Office 2013–2022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Andrew Fedotov</dc:creator>
  <cp:lastModifiedBy>Andrew Fedotov</cp:lastModifiedBy>
  <cp:revision>28</cp:revision>
  <cp:lastPrinted>2025-03-14T05:45:36Z</cp:lastPrinted>
  <dcterms:created xsi:type="dcterms:W3CDTF">2025-03-05T04:07:41Z</dcterms:created>
  <dcterms:modified xsi:type="dcterms:W3CDTF">2025-04-07T08:37:06Z</dcterms:modified>
</cp:coreProperties>
</file>